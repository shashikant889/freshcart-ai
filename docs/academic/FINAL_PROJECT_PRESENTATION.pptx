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UNIVERSITY OF MUMBAI  |  B.E. MAJOR PROJECT PRESENTATION (2025–2026)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AI-Driven Intelligent Grocery Retail System</a:t>
            </a:r>
            <a:br/>
            <a:r>
              <a:t>Using Machine Learning</a:t>
            </a:r>
          </a:p>
          <a:p>
            <a:pPr>
              <a:defRPr sz="1400" i="1">
                <a:solidFill>
                  <a:srgbClr val="94A3B8"/>
                </a:solidFill>
                <a:latin typeface="Calibri"/>
              </a:defRPr>
            </a:pPr>
            <a:r>
              <a:t>An Integrated Quick-Commerce Intelligence Platform combining Predictive ML and Operations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493776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PROJECT GROUP MEMBERS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Shashikant Shukla (Moodle ID: [STUDENT_1_MOODLE_ID])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Om Dubey (Moodle ID: [STUDENT_2_MOODLE_ID])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Shreyash Wadalkar (Moodle ID: [STUDENT_3_MOODLE_ID])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[STUDENT_4_NAME — DO NOT GUESS] (Moodle ID: [STUDENT_4_MOODLE_ID])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3291840"/>
            <a:ext cx="493776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GUIDANCE &amp; INSTITUTION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Under the Guidance of: [PROJECT_GUIDE_NAME_AND_TITLE]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Department: Computer Science &amp; Engineering (AIML)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Institute: A. P. Shah Institute of Technology (APSIT), Thane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Affiliation: University of Mumbai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Academic Year: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Project Overview: 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Executive Highlights &amp; System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Unified Intelligent Platform: Couples front-end retail personalization with back-end dark-store picking and last-mile fleet logistics in a single synchronized platform.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Personalized Recommendation: Hybrid Collaborative Filtering + TF-IDF Content Matching (alpha=0.60) yielding F1@10 = 0.5027 and NDCG@10 = 0.9790.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Predictive Demand &amp; Dynamic Pricing: 30-day recursive SARIMAX forecasting (RMSE = 5.83, MAPE = 2.50%) paired with econometric Log-Log OLS price elasticity under [±25%] guardrails.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Real-Time Fraud Risk Scoring: Cost-sensitive Random Forest transaction anomaly detector operating under severe class imbalance (ROC-AUC = 0.6087, zero leakage).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Operations Research Optimization: Continuous review (r, Q) inventory policy (-87.64% cost), dark-store 2D TSP picker routing (-37.48% walk), and CVRP delivery routing (-61.62% distance).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Resilient Microservice Gateway: Node.js Express &lt;-&gt; Python FastAPI architecture featuring a 1500ms circuit breaker with automatic in-process fallback (&lt;25ms p95 latency).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Motivation: Operational Inefficiencies in Grocery Retail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Customer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926080" cy="1737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Catalog browsing cold-start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Irrelevant generic search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Friction during high-demand checkout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29184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Retail Store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2926080" cy="1737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15–25% perishable spoilage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Inaccurate static forecasting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Unconstrained pricing churn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29184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Inventory &amp; Procurement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2926080" cy="1737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High holding &amp; setup costs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Stockouts on top SKUs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Lack of stochastic safety buffers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Dark-Store Warehouse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754879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Sequential aisle traversal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Excessive picker walking waste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Missed 10-min packing SLAs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Last-Mile Fleet Logistics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4846320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Uncoordinated radial deliveries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Low vehicle utilization (&lt;40%)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High fuel expenditure &amp; fleet mileage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Formal Engineering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 i="1">
                <a:solidFill>
                  <a:srgbClr val="92400E"/>
                </a:solidFill>
                <a:latin typeface="Calibri"/>
              </a:defRPr>
            </a:pPr>
            <a:r>
              <a:t>"To design, develop, and benchmark an integrated, resilient, and leak-free AI-driven grocery retail system that combines personalized recommendation, time-series demand forecasting, econometric dynamic pricing, and real-time transaction fraud detection with mathematical inventory, warehouse, and delivery optimization under a fault-tolerant microservice architecture."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28655" cy="2651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Key Engineering Challenges Addressed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1920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Eliminating Siloed Architectures: Bridging the gap between predictive customer models and physical logistics.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Leak-Free Machine Learning: Enforcing strict chronological holdout evaluation and recursive multi-step forecasting.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Constrained Safety Boundaries: Preventing algorithmic instability in dynamic pricing via bounded [±25%] guardrails.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Ultra-Low Latency &amp; High Availability: Achieving sub-25ms p95 latency with automatic circuit breaker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Engineering Objectives &amp; Traceability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Mapping Engineering Objectives to Implemented Code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24128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OBJ-1 (Personalization): Hybrid CF + CB Engine (alpha=0.60) in recommendation_service.py -&gt; F1@10 = 0.5027, NDCG@10 = 0.9790.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OBJ-2 (Demand Forecast): Recursive SARIMAX(1,1,1)x(1,0,1)7 in demand_service.py -&gt; RMSE = 5.83 units, MAPE = 2.50%.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OBJ-3 (Dynamic Pricing): Log-Log OLS Price Elasticity (Ed) in pricing_service.py -&gt; +22.21% Simulated Revenue Lift (p &lt; 0.001).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OBJ-4 (Fraud Scoring): Cost-Sensitive Random Forest in fraud_service.py -&gt; ROC-AUC = 0.6087 on 1.04% rare fraud.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OBJ-5 (Inventory Policy): Continuous Review (r, Q) EOQ + SS in inventory_opt.py -&gt; -87.64% Cost, 99.88% Service Level.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OBJ-6 (Picker Routing): 2D Euclidean Nearest-Neighbor + 2-Opt TSP in warehouse_opt.py -&gt; -37.48% Walk (0.09% gap).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OBJ-7 (Fleet Routing): Clarke-Wright Savings + 2-Opt CVRP in delivery_opt.py -&gt; -61.62% Travel Distance, 82.9% Util.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OBJ-8 (Resilient Gateway): Node.js AI Gateway (1.5s Circuit Breaker) in services/ai-client.js -&gt; Sub-25ms p95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Literature Survey: Summary of Recent IEEE Research (2023–2026)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Comparative Analysis of Surveyed Peer-Reviewed IEEE Publications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24128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[1] Smachylo &amp; Zhuravchak (IEEE CSIT 2024): Hybrid CF + Sentiment analysis boosts precision; limitation: high NLP inference latency.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[2] Bodduluri et al. (IEEE Access 2024): Systematic review of 120+ systems; proves weighted linear hybrids give top stability across sparse catalogs.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[4] Qureshi et al. (IEEE Access 2024): Deep Learning with weather/calendar exogenous regressors; highlights risk of autoregressive lag leakage.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[6] Poongothai et al. (IEEE ICSES 2024): Time-series ML + EOQ cuts stockouts by &gt;40%; lacks stochastic variance modeling for safety stock.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[7] Kumari &amp; Kumar (IEEE InC4 2024): Survey on dynamic pricing trends; unconstrained RL causes customer churn; bounds are essential.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[9] Raut et al. (IEEE OTCON 2024): Random Forest ensemble outperforms single trees on imbalanced POS transaction fraud streams.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[12] Chavan &amp; Nitnaware (IEEE CSNT 2025): Edge computing enables sub-30ms pricing; lacks in-process fallback during edge node crash.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[13] de Assis et al. (IEEE Access 2024): Combinatorial warehouse picking cuts travel &gt;30%; focuses on large plants, not rapid dark stores.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Identified Research Gap: Siloed vs. Integrated Retail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State of Existing Research (Siloed Approach)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Component Isolation: Algorithms are evaluated in laboratory silos without feedback loops to inventory or dispatch.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Methodological Data Leakage: Temporal shuffling in time-series and deterministic synthetic fraud labels distort metrics.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Unconstrained Dynamic Pricing: Black-box reinforcement learning models produce erratic price swings.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Lack of Fault Tolerance: Systems fail completely when machine learning microservices experience latency spikes.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High Monolithic Latency: Heavy deep learning architectures exceed real-time sub-25ms web application SLAs.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FreshCart AI Contribution (Integrated Architecture)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End-to-End Operational Loop: Customer demand shaping directly informs procurement, picking, and delivery dispatch.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Audited Leak-Free Pipelines: Strict chronological holdout splits and recursive multi-step forecasting protocols.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Econometrically Bounded Pricing: Log-Log OLS price elasticity constrained within [±25%] safety guardrails.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Two-Tier Resilient Gateway: Node.js 1.5s circuit breaker with seamless fallback to in-process heuristics.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Ultra-Fast Heuristics: 2D TSP and CVRP algorithms executing in under 3ms on standard multi-core CPUs.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Proposed High-Level System Architecture (Figure 5.1)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Client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219456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Customer Storefront PWA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Bilingual NLP Search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FreshBot Recipe Assistant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Admin Management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468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Application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79" y="2011680"/>
            <a:ext cx="219456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Node.js Express (Port 3000)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REST Routing &amp; JWT RBAC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ACID Order Processing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AI Gateway &amp; Circuit Breaker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468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AI Microservice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19456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Python FastAPI (Port 8000)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Singleton Model Registry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4 ML Engines (Recs, Demand, Price, Fraud)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3 OR Solvers (EOQ, TSP, CVRP)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468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Persistence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011680"/>
            <a:ext cx="219456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Relational SQLite Schema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7 Normalized Tables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Transaction ACID Locks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Interaction Event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AI Integration &amp; Resilient Fallback Architecture (Figure 5.21)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Primary Gateway Flow (Normal Operation: Python FastAPI Online)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14630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Asynchronous Non-Blocking Dispatch: Express server delegates analytical requests to services/ai-client.js.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REST API Microservice: Python FastAPI daemon (Port 8000) executes pre-warmed in-memory ML models.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Sub-25ms Execution: High-efficiency NumPy/scikit-learn routines return inferences in under 15ms.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728655" cy="2468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Resilience &amp; Fallback Flow (Microservice Latency &gt; 1500ms or Offline)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389120"/>
            <a:ext cx="10058400" cy="1737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Circuit Breaker Trigger: If Python response exceeds 1500ms timeout or connection fails, circuit trips.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In-Process Fallback Execution: Automatically routes to Node.js local JavaScript engines (ml/*.js).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Zero User Interruption: Checkout, recommendations, and inventory replenishment continue without throwing 500 errors.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Functional System Modules Breakdown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Customer Storefront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219456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PWA Mobile UI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English/Hindi Voice/Text Search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Category Filtering &amp; Cart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FreshBot Recipe Bundling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371600"/>
            <a:ext cx="2468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Admin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79" y="2011680"/>
            <a:ext cx="219456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Executive Revenue &amp; Order KPIs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30-Day Forecast Visualizer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Dynamic Pricing Sandbox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Automated Purchase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468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19456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Hybrid CF+CB Recommendations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Recursive SARIMAX Forecaster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Log-Log OLS Price Elasticity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Random Forest Fraud 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71600"/>
            <a:ext cx="2468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Optimization Solvers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011680"/>
            <a:ext cx="219456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Continuous Review (r, Q) EOQ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2D TSP Warehouse Order Picker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Clarke-Wright CVRP Fleet Solver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In-Process Fallback Hierarchy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Personalized Hybrid Recommendation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Mathematical Formulation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12064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User-User Collaborative Filtering (sim_CF): Computes Cosine similarity over implicit user-item interaction vectors.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Content-Based TF-IDF (sim_CB): Measures semantic similarity over product category, sub-category, and ingredient tags.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Weighted Linear Ensemble: S_Hybrid = 0.60 * sim_CF + 0.40 * sim_CB.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Top-K Ranking: Sorts unpurchased items by S_Hybrid and extracts top-10 personalized candidates in 4.86 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Holdout Benchmark Results (Table 7.1)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11680"/>
            <a:ext cx="45720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Precision@10: 0.9760 (Accurate Top-10 targeting)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Recall@10: 0.3412 (Broad catalog coverage)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F1-Score@10: 0.5027 (+16.3% over standalone CF)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NDCG@10: 0.9790 (High ranking quality)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Catalog Density Context: High precision reflects dense interaction logs across 31 focused SKUs without train/test leakage.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Time-Series Demand Forecasting (SARIMAX)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Model Architecture &amp;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38912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Model Formulation: SARIMAX(1,1,1)x(1,0,1)7 with weekly seasonality (s=7).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Exogenous Regressors: Promotional discount flags and calendar effects (gamma^T X_t).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Recursive Forecasting: Multi-step 30-day projection without lookahead lag leakage.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Evaluation Metrics (Table 7.2):</a:t>
            </a:r>
            <a:br/>
            <a:r>
              <a:t>  • RMSE = 5.83 units</a:t>
            </a:r>
            <a:br/>
            <a:r>
              <a:t>  • MAE = 3.89 units</a:t>
            </a:r>
            <a:br/>
            <a:r>
              <a:t>  • MAPE = 2.50%</a:t>
            </a:r>
            <a:br/>
            <a:r>
              <a:t>  • Latency = 4.46 ms</a:t>
            </a:r>
          </a:p>
        </p:txBody>
      </p:sp>
      <p:pic>
        <p:nvPicPr>
          <p:cNvPr id="5" name="Picture 4" descr="fig_7_1_demand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Econometric Dynamic Pricing &amp; Elasticity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Econometric Model &amp;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38912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Log-Log OLS Formulation: ln Q = beta_0 + beta_1 * ln P (Price Elasticity Ed = beta_1).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Empirical Elasticity: Ed = -0.136 (t = -10.21, p &lt; 0.001, R^2 = 0.892).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Safety Guardrails: Hard clipping within [±25%] of base retail price.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Model-Based Simulation (Table 7.3):</a:t>
            </a:r>
            <a:br/>
            <a:r>
              <a:t>  • Simulated Revenue Lift: +22.21%</a:t>
            </a:r>
            <a:br/>
            <a:r>
              <a:t>  • Simulated Profit Lift: +58.87%</a:t>
            </a:r>
            <a:br/>
            <a:r>
              <a:t>  • Note: Model-based simulation under CED assumptions.</a:t>
            </a:r>
          </a:p>
        </p:txBody>
      </p:sp>
      <p:pic>
        <p:nvPicPr>
          <p:cNvPr id="5" name="Picture 4" descr="fig_7_2_price_elast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Transaction Fraud Detection &amp; Risk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Cost-Sensitive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38912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Architecture: 100 Decision Trees with balanced class weights.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Input Features: Normalized transaction velocity, basket anomaly ratio, account age.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Holdout Evaluation (Table 7.4):</a:t>
            </a:r>
            <a:br/>
            <a:r>
              <a:t>  • ROC-AUC = 0.6087</a:t>
            </a:r>
            <a:br/>
            <a:r>
              <a:t>  • Recall = 0.3864</a:t>
            </a:r>
            <a:br/>
            <a:r>
              <a:t>  • Precision = 0.0829</a:t>
            </a:r>
            <a:br/>
            <a:r>
              <a:t>  • F1-Score = 0.1365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Academic Transparency: Modest AUC reflects realistic generalization under 1.04% rare fraud with zero synthetic leakage.</a:t>
            </a:r>
          </a:p>
        </p:txBody>
      </p:sp>
      <p:pic>
        <p:nvPicPr>
          <p:cNvPr id="5" name="Picture 4" descr="fig_7_3_fraud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Continuous Review (r, Q) Inventory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365-Day Simulation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38912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Wilson EOQ: Q* = sqrt(2DS/H) computes optimal batch replenishment size.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Stochastic Safety Stock: SS = Z_0.95 * sqrt(L * sigma_D^2 + D^2 * sigma_L^2).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Reorder Point: ROP = (D * L) + SS triggers automated PO generation.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Simulation Results (Table 7.5):</a:t>
            </a:r>
            <a:br/>
            <a:r>
              <a:t>  • Total Annual Cost: -87.64% (₹796k -&gt; ₹98k)</a:t>
            </a:r>
            <a:br/>
            <a:r>
              <a:t>  • Cycle Service Level: 99.88% (vs 75.62%)</a:t>
            </a:r>
            <a:br/>
            <a:r>
              <a:t>  • Stockout Reduction: -98.31% (890 -&gt; 15 days)</a:t>
            </a:r>
          </a:p>
        </p:txBody>
      </p:sp>
      <p:pic>
        <p:nvPicPr>
          <p:cNvPr id="5" name="Picture 4" descr="fig_7_4_inventory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Dark-Store 2D TSP Picker Path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2D TSP Heuristic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38912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Spatial Modeling: Maps items to (x, y) dark-store Euclidean aisle coordinates.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Two-Phase Algorithm:</a:t>
            </a:r>
            <a:br/>
            <a:r>
              <a:t>  1. Nearest-Neighbor greedy initialization in O(n^2)</a:t>
            </a:r>
            <a:br/>
            <a:r>
              <a:t>  2. Intra-tour 2-Opt local search eliminating edge crossings.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Benchmark on 100 Batches (Table 7.6):</a:t>
            </a:r>
            <a:br/>
            <a:r>
              <a:t>  • Walk Distance: -37.48% (9,685m -&gt; 6,055m)</a:t>
            </a:r>
            <a:br/>
            <a:r>
              <a:t>  • Optimality Gap: 0.09% (vs exact brute-force)</a:t>
            </a:r>
            <a:br/>
            <a:r>
              <a:t>  • Solver Latency: 2.34 ms (Near-optimal)</a:t>
            </a:r>
          </a:p>
        </p:txBody>
      </p:sp>
      <p:pic>
        <p:nvPicPr>
          <p:cNvPr id="5" name="Picture 4" descr="fig_7_5_warehouse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Last-Mile Delivery Fleet Routing (CVRP)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Clarke-Wright Savings + 2-Opt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38912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Formulation: Capacitated Vehicle Routing Problem (CVRP) with Q_veh = 25 kg payload.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Heuristic Solver: Clarke-Wright Savings merges orders by greatest distance saved (s_ij).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Intra-Route 2-Opt: Eliminates loop crossings on each vehicle tour.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Benchmark on 100 Instances (Table 7.7):</a:t>
            </a:r>
            <a:br/>
            <a:r>
              <a:t>  • Fleet Distance: -61.62% (14,502km -&gt; 5,566km)</a:t>
            </a:r>
            <a:br/>
            <a:r>
              <a:t>  • Capacity Utilization: 82.9% (vs 38.4%)</a:t>
            </a:r>
            <a:br/>
            <a:r>
              <a:t>  • Solver Latency: 2.31 ms</a:t>
            </a:r>
          </a:p>
        </p:txBody>
      </p:sp>
      <p:pic>
        <p:nvPicPr>
          <p:cNvPr id="5" name="Picture 4" descr="fig_7_6_delivery_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Relational Database Design &amp; Schema Entities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2926080" cy="1737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id (PK), name, email (UQ)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password_hash (bcrypt)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role ('customer', 'admin')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29184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2926080" cy="1737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id (PK), name, category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price, base_price, stock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aisle, rack, shelf, pos_x, pos_y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29184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orders &amp;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2926080" cy="1737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id (PK), user_id (FK), total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status, fraud_risk_score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order_items: product_id, qty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sales_history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754879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id (PK), product_id (FK)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date, units_sold, is_promo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Ingested for SARIMAX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user_interactions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4846320" cy="16459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id (PK), user_id, product_id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interaction_type (view, cart, buy)</a:t>
            </a:r>
          </a:p>
          <a:p>
            <a:pPr>
              <a:spcAft>
                <a:spcPts val="4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• Ingested for Hybrid CF Recs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Security Architecture, RBAC &amp; Hardening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Multi-Layer Defensive Security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Stateless JWT Authentication: HMAC-SHA256 tokens carrying user claims with expiration timestamps.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Role-Based Access Control (RBAC): Protected admin and dispatch endpoints restricted via middleware/auth.js.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Bcrypt Password Hashing: Secure password hashing with salt rounds preventing credential exposure.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SQL Injection Immunity: 100% parameterized SQLite prepared statements across all data access routines.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Input Sanitization &amp; DTO Validation: Strict body size limits (2MB) and schema type checking on all API routes.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Centralized Error Masking: Production-mode error handling prevents stack trace leakage to client browsers.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Experimental Environment &amp; Data Provenance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Software &amp; Execution Stack (Table 6.2)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Runtime: Node.js v20.x, Python v3.12 (FastAPI v0.111.0).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Persistence: SQLite3 / sql.js WebAssembly.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Data Science: NumPy v1.26.4, SciPy v1.13.1, Pandas v2.2.2.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Machine Learning: Scikit-Learn v1.5.0, Statsmodels v0.14.2.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Testing Harness: Node.js Multi-Tier Regression Suite.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Dataset Taxonomy &amp; Provenance (Table 6.3)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Product Catalog: 31 Seeded Grocery SKUs across 4 aisles.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Sales History: 11,315 Daily SKU Sales Records (365 Days).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User Interactions: 83,760 Interaction Events (Views/Cart/Buy).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Customer Personas: 100 Calibrated Synthetic Profiles.</a:t>
            </a:r>
          </a:p>
          <a:p>
            <a:pPr>
              <a:spcAft>
                <a:spcPts val="800"/>
              </a:spcAft>
              <a:defRPr sz="1300">
                <a:solidFill>
                  <a:srgbClr val="334155"/>
                </a:solidFill>
                <a:latin typeface="Calibri"/>
              </a:defRPr>
            </a:pPr>
            <a:r>
              <a:t>Order Transactions: 4,231 Orders (1.04% rare fraud rate).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Consolidated Machine Learning Holdout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Empirical Evaluation Metrics across the 4 ML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Hybrid Recommendations: F1@10 = 0.5027 | NDCG@10 = 0.9790 | Precision@10 = 0.9760 | Recall@10 = 0.3412 (4.86 ms).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30-Day Demand Forecasting: RMSE = 5.83 units | MAE = 3.89 units | MAPE = 2.50% (SARIMAX with promo regressors, 4.46 ms).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Dynamic Price Elasticity: Ed = -0.136 (p &lt; 0.001) | Simulated Revenue Lift = +22.21% | Simulated Profit Lift = +58.87% (CED Model).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Transaction Fraud Risk: ROC-AUC = 0.6087 | Recall = 0.3864 | Precision = 0.0829 | F1 = 0.1365 (0% synthetic leakage, 19.77 ms).</a:t>
            </a: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Methodological Integrity: All models evaluated on leak-free chronological holdout partitions without train/test contamination.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Operations Research Optimization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Empirical Performance across the 3 OR Solvers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Continuous Review (r, Q) Inventory: -87.64% Cost Reduction (₹796k -&gt; ₹98k) | 99.88% Service Level | -98.31% Stockouts (365-day sim).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Dark Store 2D TSP Picker: -37.48% Walking Distance (9,685m -&gt; 6,055m) | 0.09% Optimality Gap vs. Exact Brute Force | 2.34 ms Latency.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Last-Mile Delivery CVRP: -61.62% Fleet Distance (14,502km -&gt; 5,566km) | 82.9% Vehicle Capacity Utilization | 2.31 ms Latency.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Computational Feasibility: All combinatorial solvers converge in under 3 milliseconds on standard multi-core hardware.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System Performance, API Latency &amp; Code QA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Gateway Latency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38912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Local Development Latency (p95):</a:t>
            </a:r>
            <a:br/>
            <a:r>
              <a:t>  • Catalog Listing: 3.67 ms</a:t>
            </a:r>
            <a:br/>
            <a:r>
              <a:t>  • Top-K Recs: 7.90 ms</a:t>
            </a:r>
            <a:br/>
            <a:r>
              <a:t>  • Demand Forecast: 8.80 ms</a:t>
            </a:r>
            <a:br/>
            <a:r>
              <a:t>  • Dynamic Pricing: 9.87 ms</a:t>
            </a:r>
            <a:br/>
            <a:r>
              <a:t>  • 2D TSP Picker: 4.40 ms</a:t>
            </a:r>
            <a:br/>
            <a:r>
              <a:t>  • CVRP Dispatch: 10.83 ms</a:t>
            </a:r>
            <a:br/>
            <a:r>
              <a:t>  • Fraud Scoring: 19.77 ms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Automated Test Coverage:</a:t>
            </a:r>
            <a:br/>
            <a:r>
              <a:t>  • 113/113 Assertions Passed (100%)</a:t>
            </a:r>
            <a:br/>
            <a:r>
              <a:t>  • 56/56 Master Code Checks Passed</a:t>
            </a:r>
          </a:p>
        </p:txBody>
      </p:sp>
      <p:pic>
        <p:nvPicPr>
          <p:cNvPr id="5" name="Picture 4" descr="fig_7_7_latency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4592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Application Demonstration: Storefront &amp; Admin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Customer Storefront PWA (Port 3000)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Instant catalog search across 31 SKUs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Personalized Top-K Hybrid Recommendations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Cart assembly &amp; real-time pricing</a:t>
            </a:r>
          </a:p>
        </p:txBody>
      </p:sp>
      <p:pic>
        <p:nvPicPr>
          <p:cNvPr id="5" name="Picture 4" descr="SHOT-01-store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4846320" cy="27260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Admin Analytics &amp; ML Management (Port 3000)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Executive KPIs &amp; 30-Day Sales Trend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AI Demand Forecasting &amp; Dynamic Pricing</a:t>
            </a:r>
          </a:p>
          <a:p>
            <a:pPr>
              <a:spcAft>
                <a:spcPts val="3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Automated Stock Alerts &amp; VRP Dispatch</a:t>
            </a:r>
          </a:p>
        </p:txBody>
      </p:sp>
      <p:pic>
        <p:nvPicPr>
          <p:cNvPr id="8" name="Picture 7" descr="SHOT-07-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91840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End-to-End Operational Lifecycle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Synchronized Feedback Loop across Customer &amp; Operational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1. Customer Browsing &amp; Interaction: User interactions feed the Hybrid Recommendation Engine to personalize product displays.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2. Cart Assembly &amp; Dynamic Pricing: Bounded Log-Log OLS pricing optimizes revenue while preventing consumer churn.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3. Atomic Checkout &amp; Fraud Scoring: Transactions are risk-scored in &lt;20ms; valid orders decrement stock atomically in SQLite.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4. Demand Forecasting &amp; Procurement: Daily sales update SARIMAX models; Continuous Review (r, Q) triggers automated POs when stock &lt;= ROP.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5. Dark-Store Warehouse Picking: Placed orders generate 2D TSP pick paths, cutting picker walking distance by 37.48%.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6. Last-Mile Vehicle Dispatch: Assembled orders are clustered into capacity-constrained CVRP delivery routes, cutting travel miles by 61.62%.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Engineering Contributions vs. Standard Algorithms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Standard Foundational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Cosine Similarity &amp; TF-IDF Vectorization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SARIMAX State-Space Time-Series Modeling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Ordinary Least Squares (OLS) Linear Regression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Random Forest Classification Ensemble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Wilson Economic Order Quantity (EOQ)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2-Opt Local Search Heuristic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Clarke-Wright Savings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Project Engineering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Unified Multi-Tier Synergy: Coupling front-end demand with back-end dark-store picking and fleet dispatch.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Resilient AI Gateway: 1.5s circuit breaker with seamless fallback to in-process Node.js heuristics.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Leak-Free Validation: Rigorous chronological holdout benchmarking across all ML pipelines.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Rapid Heuristic Solvers: Sub-3ms execution for combinatorial warehouse and fleet routing.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Academic Limitations &amp; Technical Constraints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Explicitly Acknowledged Constraints (Examiner Transparency)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Synthetic Data Calibration: Evaluated on calibrated synthetic sales streams; real commercial deployments exhibit higher noise and extreme market shocks.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Model-Based Pricing Simulation: +22.21% revenue lift is an empirical simulation under Constant Elasticity of Demand (CED) assumptions.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Imbalanced Fraud Baseline: ROC-AUC of 0.6087 represents an operational screening pipeline rather than an autonomous production-grade prevention engine.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Local Development Benchmarking: Sub-25ms latency measured on a multi-core local host; cloud hops may introduce minor network overhead.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Static Dark-Store Layout: Assumes unobstructed 2D grid aisles without real-time physical human or robot congestion modeling.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Future Research &amp; Development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Roadmap for Next-Generation Platform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Multi-Agent Deep Reinforcement Learning for Pricing: Modeling competitive multi-seller game dynamics in real-time markets.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Automated Mobile Robot (AMR) Warehouse Swarms: Orchestrating physical automated robotic pickers in high-density automated dark stores.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Dynamic Real-Time CVRP with Live Traffic: Integrating GPS telemetry and road congestion APIs to dynamically re-route fleets in transit.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Cloud-Native Kubernetes Deployment: Containerizing the two-tier architecture for automated horizontal pod autoscaling under enterprise-scale traffic.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Graph Neural Network (GNN) Recommendations: Capturing complex multi-modal user-item graph relationships across massive retail catalogs.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47857"/>
                </a:solidFill>
                <a:latin typeface="Calibri"/>
              </a:defRPr>
            </a:pPr>
            <a:r>
              <a:t>FRESHCART AI — MAJOR PROJECT PRESENTATION</a:t>
            </a:r>
          </a:p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Conclusion: Summary of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Fulfillment of Project Objectives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41148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Successfully Built &amp; Integrated: Developed a complete full-stack intelligent grocery retail system uniting 4 ML models and 3 OR optimizers.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Rigorous Empirical Verification: Evaluated on leak-free holdout datasets and 100 combinatorial benchmark instances.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High Operational Resilience: Designed an asynchronous AI Gateway with a 1.5s circuit breaker and zero-crash in-process fallback.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Sub-25ms Real-Time Performance: Met web application latency targets across all analytical and transactional endpoints.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  <a:latin typeface="Calibri"/>
              </a:defRPr>
            </a:pPr>
            <a:r>
              <a:t>Defensible Engineering Artifact: Fully verified with 113/113 passed test assertions, 56/56 master audit checks, and locked IEEE references.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KEY IEEE REFERENCES &amp; FINAL DEFENSE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Selected IEEE Xplore Citations (2023–2026)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62895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[1] Smachylo &amp; Zhuravchak, 'Enhancing Recommender Systems,' IEEE CSIT, 2024, doi: 10.1109/CSIT65290.2024.10982556.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[4] Qureshi et al., 'Demand Forecasting in SCM for Rossmann Stores,' IEEE Access, 2024, doi: 10.1109/ACCESS.2024.3472499.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[8] Karunakaran et al., 'Integrating AI &amp; ML for Dynamic Pricing,' IEEE ICPECTS, 2024, doi: 10.1109/ICPECTS62210.2024.10780375.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[10] Mienye &amp; Jere, 'Deep Learning for Credit Card Fraud Detection,' IEEE Access, 2024, doi: 10.1109/ACCESS.2024.3426955.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[13] de Assis et al., 'Optimising Warehouse Order Picking,' IEEE Access, 2024, doi: 10.1109/ACCESS.2024.3497592.</a:t>
            </a:r>
          </a:p>
          <a:p>
            <a:pPr>
              <a:spcAft>
                <a:spcPts val="200"/>
              </a:spcAft>
              <a:defRPr sz="1100">
                <a:solidFill>
                  <a:srgbClr val="CBD5E1"/>
                </a:solidFill>
                <a:latin typeface="Calibri"/>
              </a:defRPr>
            </a:pPr>
            <a:r>
              <a:t>[14] Nugroho &amp; Girsang, 'Three-Layer Multi-Objective VRP Solver with 2-opt,' IEEE ICE3IS, 2025.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46320"/>
            <a:ext cx="10362895" cy="146304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Open for Questions &amp; Viva Examination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